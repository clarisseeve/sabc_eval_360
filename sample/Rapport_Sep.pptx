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147377668" r:id="rId3"/>
    <p:sldId id="2147377672" r:id="rId4"/>
    <p:sldId id="266" r:id="rId5"/>
    <p:sldId id="267" r:id="rId6"/>
    <p:sldId id="259" r:id="rId7"/>
    <p:sldId id="257" r:id="rId8"/>
    <p:sldId id="258" r:id="rId9"/>
    <p:sldId id="2147377673" r:id="rId10"/>
    <p:sldId id="268" r:id="rId11"/>
    <p:sldId id="2147377675" r:id="rId12"/>
    <p:sldId id="269" r:id="rId13"/>
    <p:sldId id="262" r:id="rId14"/>
    <p:sldId id="260" r:id="rId15"/>
    <p:sldId id="261" r:id="rId16"/>
    <p:sldId id="2147377674" r:id="rId17"/>
    <p:sldId id="271" r:id="rId18"/>
    <p:sldId id="270" r:id="rId19"/>
    <p:sldId id="265" r:id="rId20"/>
    <p:sldId id="263" r:id="rId21"/>
    <p:sldId id="264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3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4.bin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../embeddings/oleObject5.bin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../embeddings/oleObject6.bin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../embeddings/oleObject8.bin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../embeddings/oleObject9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'[SYNTHESE DES EVALUATIONS DES COMPETENCES DE LA FDV ANNEE 2025.xlsx]CDS (LITTORAL)'!$B$37</c:f>
              <c:strCache>
                <c:ptCount val="1"/>
              </c:strCache>
            </c:strRef>
          </c:tx>
          <c:spPr>
            <a:solidFill>
              <a:srgbClr val="92D05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2025.xlsx]CDS (LITTORAL)'!$C$2:$W$2</c:f>
              <c:strCache>
                <c:ptCount val="21"/>
                <c:pt idx="0">
                  <c:v>Connaissance du produit</c:v>
                </c:pt>
                <c:pt idx="1">
                  <c:v>Esprit d'Équipe</c:v>
                </c:pt>
                <c:pt idx="2">
                  <c:v>Empathie</c:v>
                </c:pt>
                <c:pt idx="3">
                  <c:v>Respect et écoute des opinions des autres</c:v>
                </c:pt>
                <c:pt idx="4">
                  <c:v>Techniques de ventes</c:v>
                </c:pt>
                <c:pt idx="5">
                  <c:v>Organisation des informations</c:v>
                </c:pt>
                <c:pt idx="6">
                  <c:v>Capacité à influencer</c:v>
                </c:pt>
                <c:pt idx="7">
                  <c:v>Analyse des données</c:v>
                </c:pt>
                <c:pt idx="8">
                  <c:v>Techniques d'animation de réunion</c:v>
                </c:pt>
                <c:pt idx="9">
                  <c:v>Utilisation des Outils d'Analyse des Données</c:v>
                </c:pt>
                <c:pt idx="10">
                  <c:v>Compétence en Reporting</c:v>
                </c:pt>
                <c:pt idx="11">
                  <c:v>Gestion des priorités</c:v>
                </c:pt>
                <c:pt idx="12">
                  <c:v>Gestion du temps</c:v>
                </c:pt>
                <c:pt idx="13">
                  <c:v>Organisation du Travail</c:v>
                </c:pt>
                <c:pt idx="14">
                  <c:v>Sens de l'anticipation</c:v>
                </c:pt>
                <c:pt idx="15">
                  <c:v>Sens du contact</c:v>
                </c:pt>
                <c:pt idx="16">
                  <c:v>Suivi et Animation des Ventes</c:v>
                </c:pt>
                <c:pt idx="17">
                  <c:v>Négociation commerciale</c:v>
                </c:pt>
                <c:pt idx="18">
                  <c:v>Écoute Active</c:v>
                </c:pt>
                <c:pt idx="19">
                  <c:v>Force de proposition</c:v>
                </c:pt>
                <c:pt idx="20">
                  <c:v>Analyse du Marché et de la Concurrence</c:v>
                </c:pt>
              </c:strCache>
            </c:strRef>
          </c:cat>
          <c:val>
            <c:numRef>
              <c:f>'[SYNTHESE DES EVALUATIONS DES COMPETENCES DE LA FDV ANNEE 2025.xlsx]CDS (LITTORAL)'!$C$37:$W$37</c:f>
              <c:numCache>
                <c:formatCode>0.0%</c:formatCode>
                <c:ptCount val="21"/>
                <c:pt idx="0">
                  <c:v>0.9375</c:v>
                </c:pt>
                <c:pt idx="1">
                  <c:v>0.875</c:v>
                </c:pt>
                <c:pt idx="2">
                  <c:v>0.78125</c:v>
                </c:pt>
                <c:pt idx="3">
                  <c:v>0.75</c:v>
                </c:pt>
                <c:pt idx="4">
                  <c:v>0.6875</c:v>
                </c:pt>
                <c:pt idx="5">
                  <c:v>0.65625</c:v>
                </c:pt>
                <c:pt idx="6">
                  <c:v>0.625</c:v>
                </c:pt>
                <c:pt idx="7">
                  <c:v>0.59375</c:v>
                </c:pt>
                <c:pt idx="8">
                  <c:v>0.5625</c:v>
                </c:pt>
                <c:pt idx="9">
                  <c:v>0.53125</c:v>
                </c:pt>
                <c:pt idx="10">
                  <c:v>0.53125</c:v>
                </c:pt>
                <c:pt idx="11">
                  <c:v>0.5</c:v>
                </c:pt>
                <c:pt idx="12">
                  <c:v>0.4375</c:v>
                </c:pt>
                <c:pt idx="13">
                  <c:v>0.4375</c:v>
                </c:pt>
                <c:pt idx="14">
                  <c:v>0.4375</c:v>
                </c:pt>
                <c:pt idx="15">
                  <c:v>0.28125</c:v>
                </c:pt>
                <c:pt idx="16">
                  <c:v>0.21875</c:v>
                </c:pt>
                <c:pt idx="17">
                  <c:v>0.15625</c:v>
                </c:pt>
                <c:pt idx="18">
                  <c:v>9.375E-2</c:v>
                </c:pt>
                <c:pt idx="19">
                  <c:v>6.25E-2</c:v>
                </c:pt>
                <c:pt idx="20">
                  <c:v>3.125E-2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79-4FCB-9F31-E22510AAD44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66623487"/>
        <c:axId val="1665665903"/>
      </c:barChart>
      <c:catAx>
        <c:axId val="1066623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65665903"/>
        <c:crosses val="autoZero"/>
        <c:auto val="1"/>
        <c:lblAlgn val="ctr"/>
        <c:lblOffset val="100"/>
        <c:noMultiLvlLbl val="0"/>
      </c:catAx>
      <c:valAx>
        <c:axId val="1665665903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6662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Structure du niveau d'acquisition des compétences par</a:t>
            </a:r>
            <a:r>
              <a:rPr lang="fr-FR" baseline="0"/>
              <a:t> les CDS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D50D-4F1C-A640-A20998F0CD25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D50D-4F1C-A640-A20998F0CD25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D50D-4F1C-A640-A20998F0CD25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D50D-4F1C-A640-A20998F0CD25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'[SYNTHESE DES EVALUATIONS DES COMPETENCES DE LA FDV ANNEE 2025.xlsx]CDS (LITTORAL)'!$AA$3:$AD$3</c:f>
              <c:strCache>
                <c:ptCount val="4"/>
                <c:pt idx="0">
                  <c:v>&lt;50%</c:v>
                </c:pt>
                <c:pt idx="1">
                  <c:v>Entre 50 et 70%</c:v>
                </c:pt>
                <c:pt idx="2">
                  <c:v>Entre 70 et 80%</c:v>
                </c:pt>
                <c:pt idx="3">
                  <c:v>&gt;80%</c:v>
                </c:pt>
              </c:strCache>
            </c:strRef>
          </c:cat>
          <c:val>
            <c:numRef>
              <c:f>'[SYNTHESE DES EVALUATIONS DES COMPETENCES DE LA FDV ANNEE 2025.xlsx]CDS (LITTORAL)'!$AA$4:$AD$4</c:f>
              <c:numCache>
                <c:formatCode>General</c:formatCode>
                <c:ptCount val="4"/>
                <c:pt idx="0">
                  <c:v>15</c:v>
                </c:pt>
                <c:pt idx="1">
                  <c:v>9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0D-4F1C-A640-A20998F0CD2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'[SYNTHESE DES EVALUATIONS DES COMPETENCES DE LA FDV ANNEE 2025.xlsx]CDS (LITTORAL)'!$B$39</c:f>
              <c:strCache>
                <c:ptCount val="1"/>
                <c:pt idx="0">
                  <c:v>Note moyenne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2025.xlsx]CDS (LITTORAL)'!$C$2:$W$2</c:f>
              <c:strCache>
                <c:ptCount val="21"/>
                <c:pt idx="0">
                  <c:v>Connaissance du produit</c:v>
                </c:pt>
                <c:pt idx="1">
                  <c:v>Esprit d'Équipe</c:v>
                </c:pt>
                <c:pt idx="2">
                  <c:v>Empathie</c:v>
                </c:pt>
                <c:pt idx="3">
                  <c:v>Respect et écoute des opinions des autres</c:v>
                </c:pt>
                <c:pt idx="4">
                  <c:v>Techniques de ventes</c:v>
                </c:pt>
                <c:pt idx="5">
                  <c:v>Organisation des informations</c:v>
                </c:pt>
                <c:pt idx="6">
                  <c:v>Capacité à influencer</c:v>
                </c:pt>
                <c:pt idx="7">
                  <c:v>Analyse des données</c:v>
                </c:pt>
                <c:pt idx="8">
                  <c:v>Techniques d'animation de réunion</c:v>
                </c:pt>
                <c:pt idx="9">
                  <c:v>Utilisation des Outils d'Analyse des Données</c:v>
                </c:pt>
                <c:pt idx="10">
                  <c:v>Compétence en Reporting</c:v>
                </c:pt>
                <c:pt idx="11">
                  <c:v>Gestion des priorités</c:v>
                </c:pt>
                <c:pt idx="12">
                  <c:v>Gestion du temps</c:v>
                </c:pt>
                <c:pt idx="13">
                  <c:v>Organisation du Travail</c:v>
                </c:pt>
                <c:pt idx="14">
                  <c:v>Sens de l'anticipation</c:v>
                </c:pt>
                <c:pt idx="15">
                  <c:v>Sens du contact</c:v>
                </c:pt>
                <c:pt idx="16">
                  <c:v>Suivi et Animation des Ventes</c:v>
                </c:pt>
                <c:pt idx="17">
                  <c:v>Négociation commerciale</c:v>
                </c:pt>
                <c:pt idx="18">
                  <c:v>Écoute Active</c:v>
                </c:pt>
                <c:pt idx="19">
                  <c:v>Force de proposition</c:v>
                </c:pt>
                <c:pt idx="20">
                  <c:v>Analyse du Marché et de la Concurrence</c:v>
                </c:pt>
              </c:strCache>
            </c:strRef>
          </c:cat>
          <c:val>
            <c:numRef>
              <c:f>'[SYNTHESE DES EVALUATIONS DES COMPETENCES DE LA FDV ANNEE 2025.xlsx]CDS (LITTORAL)'!$C$39:$W$39</c:f>
              <c:numCache>
                <c:formatCode>0.0</c:formatCode>
                <c:ptCount val="21"/>
                <c:pt idx="0">
                  <c:v>2.7239583333333335</c:v>
                </c:pt>
                <c:pt idx="1">
                  <c:v>3.2708333333333335</c:v>
                </c:pt>
                <c:pt idx="2">
                  <c:v>3.1822916666666665</c:v>
                </c:pt>
                <c:pt idx="3">
                  <c:v>3.0624999999999996</c:v>
                </c:pt>
                <c:pt idx="4">
                  <c:v>3.067708333333333</c:v>
                </c:pt>
                <c:pt idx="5">
                  <c:v>2.776041666666667</c:v>
                </c:pt>
                <c:pt idx="6">
                  <c:v>2.880208333333333</c:v>
                </c:pt>
                <c:pt idx="7">
                  <c:v>2.8854166666666665</c:v>
                </c:pt>
                <c:pt idx="8">
                  <c:v>2.796875</c:v>
                </c:pt>
                <c:pt idx="9">
                  <c:v>2.7604166666666665</c:v>
                </c:pt>
                <c:pt idx="10">
                  <c:v>2.6927083333333335</c:v>
                </c:pt>
                <c:pt idx="11">
                  <c:v>2.692708333333333</c:v>
                </c:pt>
                <c:pt idx="12">
                  <c:v>2.6927083333333335</c:v>
                </c:pt>
                <c:pt idx="13">
                  <c:v>2.6093749999999996</c:v>
                </c:pt>
                <c:pt idx="14">
                  <c:v>2.708333333333333</c:v>
                </c:pt>
                <c:pt idx="15">
                  <c:v>3.2656249999999996</c:v>
                </c:pt>
                <c:pt idx="16">
                  <c:v>3.0885416666666665</c:v>
                </c:pt>
                <c:pt idx="17">
                  <c:v>2.8906249999999996</c:v>
                </c:pt>
                <c:pt idx="18">
                  <c:v>3.046875</c:v>
                </c:pt>
                <c:pt idx="19">
                  <c:v>2.9427083333333335</c:v>
                </c:pt>
                <c:pt idx="20">
                  <c:v>2.6562499999999996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C-4B60-8351-58E3E581F56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66623487"/>
        <c:axId val="1665665903"/>
      </c:barChart>
      <c:catAx>
        <c:axId val="1066623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65665903"/>
        <c:crosses val="autoZero"/>
        <c:auto val="1"/>
        <c:lblAlgn val="ctr"/>
        <c:lblOffset val="100"/>
        <c:noMultiLvlLbl val="0"/>
      </c:catAx>
      <c:valAx>
        <c:axId val="1665665903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6662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2025.xlsx]CDV (LITTORAL)'!$C$2:$Z$2</c:f>
              <c:strCache>
                <c:ptCount val="24"/>
                <c:pt idx="0">
                  <c:v>Leadership</c:v>
                </c:pt>
                <c:pt idx="1">
                  <c:v>Partage des connaissances et compétences</c:v>
                </c:pt>
                <c:pt idx="2">
                  <c:v>Respect et écoute des opinions des autres</c:v>
                </c:pt>
                <c:pt idx="3">
                  <c:v>Techniques de Management des Équipes</c:v>
                </c:pt>
                <c:pt idx="4">
                  <c:v>Courage managérial</c:v>
                </c:pt>
                <c:pt idx="5">
                  <c:v>Techniques Statistiques</c:v>
                </c:pt>
                <c:pt idx="6">
                  <c:v>Gestion des priorités</c:v>
                </c:pt>
                <c:pt idx="7">
                  <c:v>Leadership inspirationnel</c:v>
                </c:pt>
                <c:pt idx="8">
                  <c:v>Organisation des informations</c:v>
                </c:pt>
                <c:pt idx="9">
                  <c:v>Présentation</c:v>
                </c:pt>
                <c:pt idx="10">
                  <c:v>Sens de la Planification et de la Méthode</c:v>
                </c:pt>
                <c:pt idx="11">
                  <c:v>Techniques de Conduite du Changement</c:v>
                </c:pt>
                <c:pt idx="12">
                  <c:v>Techniques de Marketing</c:v>
                </c:pt>
                <c:pt idx="13">
                  <c:v>Connaissance produit</c:v>
                </c:pt>
                <c:pt idx="14">
                  <c:v>Capacité à influencer</c:v>
                </c:pt>
                <c:pt idx="15">
                  <c:v>Techniques de Communication</c:v>
                </c:pt>
                <c:pt idx="16">
                  <c:v>Force de conviction</c:v>
                </c:pt>
                <c:pt idx="17">
                  <c:v>Suivi et analyse des ventes</c:v>
                </c:pt>
                <c:pt idx="18">
                  <c:v>Analyse des Données et Reporting</c:v>
                </c:pt>
                <c:pt idx="19">
                  <c:v>Techniques de Commercialisation</c:v>
                </c:pt>
                <c:pt idx="20">
                  <c:v>Gestion du temps</c:v>
                </c:pt>
                <c:pt idx="21">
                  <c:v>Techniques de Vente et de Négociation</c:v>
                </c:pt>
                <c:pt idx="22">
                  <c:v>Techniques d'Analyse du Marché</c:v>
                </c:pt>
                <c:pt idx="23">
                  <c:v>Techniques de Veille Concurrentielle</c:v>
                </c:pt>
              </c:strCache>
            </c:strRef>
          </c:cat>
          <c:val>
            <c:numRef>
              <c:f>'[SYNTHESE DES EVALUATIONS DES COMPETENCES DE LA FDV ANNEE 2025.xlsx]CDV (LITTORAL)'!$C$9:$Z$9</c:f>
              <c:numCache>
                <c:formatCode>0.0%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  <c:pt idx="10">
                  <c:v>0.75</c:v>
                </c:pt>
                <c:pt idx="11">
                  <c:v>0.75</c:v>
                </c:pt>
                <c:pt idx="12">
                  <c:v>0.75</c:v>
                </c:pt>
                <c:pt idx="13">
                  <c:v>0.75</c:v>
                </c:pt>
                <c:pt idx="14">
                  <c:v>0.25</c:v>
                </c:pt>
                <c:pt idx="15">
                  <c:v>0.25</c:v>
                </c:pt>
                <c:pt idx="16">
                  <c:v>0.25</c:v>
                </c:pt>
                <c:pt idx="17">
                  <c:v>0.25</c:v>
                </c:pt>
                <c:pt idx="18">
                  <c:v>0.25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D2-457A-8CAF-1D2D5B359B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3616816"/>
        <c:axId val="33615856"/>
      </c:barChart>
      <c:catAx>
        <c:axId val="33616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3615856"/>
        <c:crosses val="autoZero"/>
        <c:auto val="1"/>
        <c:lblAlgn val="ctr"/>
        <c:lblOffset val="100"/>
        <c:noMultiLvlLbl val="0"/>
      </c:catAx>
      <c:valAx>
        <c:axId val="3361585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361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5EE-499E-B8EE-844A3F401E5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5EE-499E-B8EE-844A3F401E51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5EE-499E-B8EE-844A3F401E51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05EE-499E-B8EE-844A3F401E51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'[SYNTHESE DES EVALUATIONS DES COMPETENCES DE LA FDV ANNEE 2025.xlsx]CDV (LITTORAL)'!$AE$3:$AH$3</c:f>
              <c:strCache>
                <c:ptCount val="4"/>
                <c:pt idx="0">
                  <c:v>&lt;50%</c:v>
                </c:pt>
                <c:pt idx="1">
                  <c:v>Entre 50 et 70%</c:v>
                </c:pt>
                <c:pt idx="2">
                  <c:v>Entre 70 et 80%</c:v>
                </c:pt>
                <c:pt idx="3">
                  <c:v>&gt;80%</c:v>
                </c:pt>
              </c:strCache>
            </c:strRef>
          </c:cat>
          <c:val>
            <c:numRef>
              <c:f>'[SYNTHESE DES EVALUATIONS DES COMPETENCES DE LA FDV ANNEE 2025.xlsx]CDV (LITTORAL)'!$AE$4:$AH$4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EE-499E-B8EE-844A3F401E5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'[SYNTHESE DES EVALUATIONS DES COMPETENCES DE LA FDV ANNEE 2025.xlsx]CDV (LITTORAL)'!$B$11</c:f>
              <c:strCache>
                <c:ptCount val="1"/>
                <c:pt idx="0">
                  <c:v>Note moyenne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2025.xlsx]CDV (LITTORAL)'!$C$2:$Z$2</c:f>
              <c:strCache>
                <c:ptCount val="24"/>
                <c:pt idx="0">
                  <c:v>Leadership</c:v>
                </c:pt>
                <c:pt idx="1">
                  <c:v>Partage des connaissances et compétences</c:v>
                </c:pt>
                <c:pt idx="2">
                  <c:v>Respect et écoute des opinions des autres</c:v>
                </c:pt>
                <c:pt idx="3">
                  <c:v>Techniques de Management des Équipes</c:v>
                </c:pt>
                <c:pt idx="4">
                  <c:v>Courage managérial</c:v>
                </c:pt>
                <c:pt idx="5">
                  <c:v>Techniques Statistiques</c:v>
                </c:pt>
                <c:pt idx="6">
                  <c:v>Gestion des priorités</c:v>
                </c:pt>
                <c:pt idx="7">
                  <c:v>Leadership inspirationnel</c:v>
                </c:pt>
                <c:pt idx="8">
                  <c:v>Organisation des informations</c:v>
                </c:pt>
                <c:pt idx="9">
                  <c:v>Présentation</c:v>
                </c:pt>
                <c:pt idx="10">
                  <c:v>Sens de la Planification et de la Méthode</c:v>
                </c:pt>
                <c:pt idx="11">
                  <c:v>Techniques de Conduite du Changement</c:v>
                </c:pt>
                <c:pt idx="12">
                  <c:v>Techniques de Marketing</c:v>
                </c:pt>
                <c:pt idx="13">
                  <c:v>Connaissance produit</c:v>
                </c:pt>
                <c:pt idx="14">
                  <c:v>Capacité à influencer</c:v>
                </c:pt>
                <c:pt idx="15">
                  <c:v>Techniques de Communication</c:v>
                </c:pt>
                <c:pt idx="16">
                  <c:v>Force de conviction</c:v>
                </c:pt>
                <c:pt idx="17">
                  <c:v>Suivi et analyse des ventes</c:v>
                </c:pt>
                <c:pt idx="18">
                  <c:v>Analyse des Données et Reporting</c:v>
                </c:pt>
                <c:pt idx="19">
                  <c:v>Techniques de Commercialisation</c:v>
                </c:pt>
                <c:pt idx="20">
                  <c:v>Gestion du temps</c:v>
                </c:pt>
                <c:pt idx="21">
                  <c:v>Techniques de Vente et de Négociation</c:v>
                </c:pt>
                <c:pt idx="22">
                  <c:v>Techniques d'Analyse du Marché</c:v>
                </c:pt>
                <c:pt idx="23">
                  <c:v>Techniques de Veille Concurrentielle</c:v>
                </c:pt>
              </c:strCache>
            </c:strRef>
          </c:cat>
          <c:val>
            <c:numRef>
              <c:f>'[SYNTHESE DES EVALUATIONS DES COMPETENCES DE LA FDV ANNEE 2025.xlsx]CDV (LITTORAL)'!$C$11:$Z$11</c:f>
              <c:numCache>
                <c:formatCode>0.0</c:formatCode>
                <c:ptCount val="24"/>
                <c:pt idx="0">
                  <c:v>3.75</c:v>
                </c:pt>
                <c:pt idx="1">
                  <c:v>3.75</c:v>
                </c:pt>
                <c:pt idx="2">
                  <c:v>3.375</c:v>
                </c:pt>
                <c:pt idx="3">
                  <c:v>3.625</c:v>
                </c:pt>
                <c:pt idx="4">
                  <c:v>3.125</c:v>
                </c:pt>
                <c:pt idx="5">
                  <c:v>3.5</c:v>
                </c:pt>
                <c:pt idx="6">
                  <c:v>2.875</c:v>
                </c:pt>
                <c:pt idx="7">
                  <c:v>2.875</c:v>
                </c:pt>
                <c:pt idx="8">
                  <c:v>3</c:v>
                </c:pt>
                <c:pt idx="9">
                  <c:v>3</c:v>
                </c:pt>
                <c:pt idx="10">
                  <c:v>2.875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3.5</c:v>
                </c:pt>
                <c:pt idx="15">
                  <c:v>3.375</c:v>
                </c:pt>
                <c:pt idx="16">
                  <c:v>3.5</c:v>
                </c:pt>
                <c:pt idx="17">
                  <c:v>3.625</c:v>
                </c:pt>
                <c:pt idx="18">
                  <c:v>3.625</c:v>
                </c:pt>
                <c:pt idx="19">
                  <c:v>3.125</c:v>
                </c:pt>
                <c:pt idx="20">
                  <c:v>2.75</c:v>
                </c:pt>
                <c:pt idx="21">
                  <c:v>3</c:v>
                </c:pt>
                <c:pt idx="22">
                  <c:v>3.25</c:v>
                </c:pt>
                <c:pt idx="2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D-4742-89BB-2E27D84545D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3616816"/>
        <c:axId val="33615856"/>
      </c:barChart>
      <c:catAx>
        <c:axId val="33616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3615856"/>
        <c:crosses val="autoZero"/>
        <c:auto val="1"/>
        <c:lblAlgn val="ctr"/>
        <c:lblOffset val="100"/>
        <c:noMultiLvlLbl val="0"/>
      </c:catAx>
      <c:valAx>
        <c:axId val="3361585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361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(2)'!$C$3:$AB$3</c:f>
            </c:numRef>
          </c:val>
          <c:extLst>
            <c:ext xmlns:c16="http://schemas.microsoft.com/office/drawing/2014/chart" uri="{C3380CC4-5D6E-409C-BE32-E72D297353CC}">
              <c16:uniqueId val="{00000000-7EE4-41F4-9E9E-0DD2562E6C33}"/>
            </c:ext>
          </c:extLst>
        </c:ser>
        <c:ser>
          <c:idx val="1"/>
          <c:order val="1"/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(2)'!$C$4:$AB$4</c:f>
            </c:numRef>
          </c:val>
          <c:extLst>
            <c:ext xmlns:c16="http://schemas.microsoft.com/office/drawing/2014/chart" uri="{C3380CC4-5D6E-409C-BE32-E72D297353CC}">
              <c16:uniqueId val="{00000001-7EE4-41F4-9E9E-0DD2562E6C33}"/>
            </c:ext>
          </c:extLst>
        </c:ser>
        <c:ser>
          <c:idx val="2"/>
          <c:order val="2"/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(2)'!$C$5:$AB$5</c:f>
            </c:numRef>
          </c:val>
          <c:extLst>
            <c:ext xmlns:c16="http://schemas.microsoft.com/office/drawing/2014/chart" uri="{C3380CC4-5D6E-409C-BE32-E72D297353CC}">
              <c16:uniqueId val="{00000002-7EE4-41F4-9E9E-0DD2562E6C33}"/>
            </c:ext>
          </c:extLst>
        </c:ser>
        <c:ser>
          <c:idx val="3"/>
          <c:order val="3"/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(2)'!$C$6:$AB$6</c:f>
            </c:numRef>
          </c:val>
          <c:extLst>
            <c:ext xmlns:c16="http://schemas.microsoft.com/office/drawing/2014/chart" uri="{C3380CC4-5D6E-409C-BE32-E72D297353CC}">
              <c16:uniqueId val="{00000003-7EE4-41F4-9E9E-0DD2562E6C33}"/>
            </c:ext>
          </c:extLst>
        </c:ser>
        <c:ser>
          <c:idx val="4"/>
          <c:order val="4"/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(2)'!$C$7:$AB$7</c:f>
            </c:numRef>
          </c:val>
          <c:extLst>
            <c:ext xmlns:c16="http://schemas.microsoft.com/office/drawing/2014/chart" uri="{C3380CC4-5D6E-409C-BE32-E72D297353CC}">
              <c16:uniqueId val="{00000004-7EE4-41F4-9E9E-0DD2562E6C33}"/>
            </c:ext>
          </c:extLst>
        </c:ser>
        <c:ser>
          <c:idx val="5"/>
          <c:order val="5"/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(2)'!$C$8:$AB$8</c:f>
            </c:numRef>
          </c:val>
          <c:extLst>
            <c:ext xmlns:c16="http://schemas.microsoft.com/office/drawing/2014/chart" uri="{C3380CC4-5D6E-409C-BE32-E72D297353CC}">
              <c16:uniqueId val="{00000005-7EE4-41F4-9E9E-0DD2562E6C33}"/>
            </c:ext>
          </c:extLst>
        </c:ser>
        <c:ser>
          <c:idx val="6"/>
          <c:order val="6"/>
          <c:spPr>
            <a:solidFill>
              <a:schemeClr val="accent1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(2)'!$C$9:$AB$9</c:f>
            </c:numRef>
          </c:val>
          <c:extLst>
            <c:ext xmlns:c16="http://schemas.microsoft.com/office/drawing/2014/chart" uri="{C3380CC4-5D6E-409C-BE32-E72D297353CC}">
              <c16:uniqueId val="{00000006-7EE4-41F4-9E9E-0DD2562E6C33}"/>
            </c:ext>
          </c:extLst>
        </c:ser>
        <c:ser>
          <c:idx val="7"/>
          <c:order val="7"/>
          <c:spPr>
            <a:solidFill>
              <a:schemeClr val="accent2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(2)'!$C$10:$AB$10</c:f>
            </c:numRef>
          </c:val>
          <c:extLst>
            <c:ext xmlns:c16="http://schemas.microsoft.com/office/drawing/2014/chart" uri="{C3380CC4-5D6E-409C-BE32-E72D297353CC}">
              <c16:uniqueId val="{00000007-7EE4-41F4-9E9E-0DD2562E6C33}"/>
            </c:ext>
          </c:extLst>
        </c:ser>
        <c:ser>
          <c:idx val="8"/>
          <c:order val="8"/>
          <c:spPr>
            <a:solidFill>
              <a:schemeClr val="accent3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(2)'!$C$11:$AB$11</c:f>
            </c:numRef>
          </c:val>
          <c:extLst>
            <c:ext xmlns:c16="http://schemas.microsoft.com/office/drawing/2014/chart" uri="{C3380CC4-5D6E-409C-BE32-E72D297353CC}">
              <c16:uniqueId val="{00000008-7EE4-41F4-9E9E-0DD2562E6C33}"/>
            </c:ext>
          </c:extLst>
        </c:ser>
        <c:ser>
          <c:idx val="9"/>
          <c:order val="9"/>
          <c:spPr>
            <a:solidFill>
              <a:schemeClr val="accent4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(2)'!$C$12:$AB$12</c:f>
            </c:numRef>
          </c:val>
          <c:extLst>
            <c:ext xmlns:c16="http://schemas.microsoft.com/office/drawing/2014/chart" uri="{C3380CC4-5D6E-409C-BE32-E72D297353CC}">
              <c16:uniqueId val="{00000009-7EE4-41F4-9E9E-0DD2562E6C33}"/>
            </c:ext>
          </c:extLst>
        </c:ser>
        <c:ser>
          <c:idx val="10"/>
          <c:order val="10"/>
          <c:spPr>
            <a:solidFill>
              <a:schemeClr val="accent5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(2)'!$C$13:$AB$13</c:f>
            </c:numRef>
          </c:val>
          <c:extLst>
            <c:ext xmlns:c16="http://schemas.microsoft.com/office/drawing/2014/chart" uri="{C3380CC4-5D6E-409C-BE32-E72D297353CC}">
              <c16:uniqueId val="{0000000A-7EE4-41F4-9E9E-0DD2562E6C33}"/>
            </c:ext>
          </c:extLst>
        </c:ser>
        <c:ser>
          <c:idx val="11"/>
          <c:order val="11"/>
          <c:spPr>
            <a:solidFill>
              <a:schemeClr val="accent6">
                <a:lumMod val="6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(2)'!$C$14:$AB$14</c:f>
            </c:numRef>
          </c:val>
          <c:extLst>
            <c:ext xmlns:c16="http://schemas.microsoft.com/office/drawing/2014/chart" uri="{C3380CC4-5D6E-409C-BE32-E72D297353CC}">
              <c16:uniqueId val="{0000000B-7EE4-41F4-9E9E-0DD2562E6C33}"/>
            </c:ext>
          </c:extLst>
        </c:ser>
        <c:ser>
          <c:idx val="12"/>
          <c:order val="12"/>
          <c:spPr>
            <a:solidFill>
              <a:schemeClr val="accent1">
                <a:lumMod val="80000"/>
                <a:lumOff val="2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(2)'!$C$15:$AB$15</c:f>
            </c:numRef>
          </c:val>
          <c:extLst>
            <c:ext xmlns:c16="http://schemas.microsoft.com/office/drawing/2014/chart" uri="{C3380CC4-5D6E-409C-BE32-E72D297353CC}">
              <c16:uniqueId val="{0000000C-7EE4-41F4-9E9E-0DD2562E6C33}"/>
            </c:ext>
          </c:extLst>
        </c:ser>
        <c:ser>
          <c:idx val="13"/>
          <c:order val="13"/>
          <c:spPr>
            <a:solidFill>
              <a:schemeClr val="accent2">
                <a:lumMod val="80000"/>
                <a:lumOff val="2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(2)'!$C$2:$AB$2</c:f>
              <c:strCache>
                <c:ptCount val="26"/>
                <c:pt idx="0">
                  <c:v>Organisation des informations</c:v>
                </c:pt>
                <c:pt idx="1">
                  <c:v>Connaissance produit</c:v>
                </c:pt>
                <c:pt idx="2">
                  <c:v>Présentation</c:v>
                </c:pt>
                <c:pt idx="3">
                  <c:v>Courage managérial</c:v>
                </c:pt>
                <c:pt idx="4">
                  <c:v>Méthode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Planification</c:v>
                </c:pt>
                <c:pt idx="8">
                  <c:v>Suivi et analyse des ventes</c:v>
                </c:pt>
                <c:pt idx="9">
                  <c:v>Techniques Statistiques</c:v>
                </c:pt>
                <c:pt idx="10">
                  <c:v>Capacité d'impliquer les équipes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Gestion des budgets</c:v>
                </c:pt>
                <c:pt idx="14">
                  <c:v>Techniques de Commercialisation</c:v>
                </c:pt>
                <c:pt idx="15">
                  <c:v>Analyse des Données et Reporting</c:v>
                </c:pt>
                <c:pt idx="16">
                  <c:v>Capacité à influencer</c:v>
                </c:pt>
                <c:pt idx="17">
                  <c:v>Techniques de Management des Équipes</c:v>
                </c:pt>
                <c:pt idx="18">
                  <c:v>Techniques de Veille Concurrentielle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Communication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(2)'!$C$16:$AB$16</c:f>
            </c:numRef>
          </c:val>
          <c:extLst>
            <c:ext xmlns:c16="http://schemas.microsoft.com/office/drawing/2014/chart" uri="{C3380CC4-5D6E-409C-BE32-E72D297353CC}">
              <c16:uniqueId val="{0000000D-7EE4-41F4-9E9E-0DD2562E6C33}"/>
            </c:ext>
          </c:extLst>
        </c:ser>
        <c:ser>
          <c:idx val="14"/>
          <c:order val="14"/>
          <c:spPr>
            <a:solidFill>
              <a:schemeClr val="accent3">
                <a:lumMod val="80000"/>
                <a:lumOff val="2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(LITTORAL)'!$C$2:$AB$2</c:f>
              <c:strCache>
                <c:ptCount val="26"/>
                <c:pt idx="0">
                  <c:v>Organisation des informations</c:v>
                </c:pt>
                <c:pt idx="1">
                  <c:v>Courage managérial</c:v>
                </c:pt>
                <c:pt idx="2">
                  <c:v>Techniques Statistiques</c:v>
                </c:pt>
                <c:pt idx="3">
                  <c:v>Connaissance produit</c:v>
                </c:pt>
                <c:pt idx="4">
                  <c:v>Présentation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Méthode</c:v>
                </c:pt>
                <c:pt idx="8">
                  <c:v>Gestion des budgets</c:v>
                </c:pt>
                <c:pt idx="9">
                  <c:v>Planification</c:v>
                </c:pt>
                <c:pt idx="10">
                  <c:v>Suivi et analyse des ventes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Capacité d'impliquer les équipes</c:v>
                </c:pt>
                <c:pt idx="14">
                  <c:v>Techniques de Management des Équipes</c:v>
                </c:pt>
                <c:pt idx="15">
                  <c:v>Techniques de Communication</c:v>
                </c:pt>
                <c:pt idx="16">
                  <c:v>Techniques de Commercialisation</c:v>
                </c:pt>
                <c:pt idx="17">
                  <c:v>Analyse des Données et Reporting</c:v>
                </c:pt>
                <c:pt idx="18">
                  <c:v>Capacité à influencer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Veille Concurrentielle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(LITTORAL)'!$C$11:$AB$11</c:f>
              <c:numCache>
                <c:formatCode>0.0%</c:formatCode>
                <c:ptCount val="2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0.83333333333333337</c:v>
                </c:pt>
                <c:pt idx="4">
                  <c:v>0.83333333333333337</c:v>
                </c:pt>
                <c:pt idx="5">
                  <c:v>0.83333333333333337</c:v>
                </c:pt>
                <c:pt idx="6">
                  <c:v>0.83333333333333337</c:v>
                </c:pt>
                <c:pt idx="7">
                  <c:v>0.66666666666666663</c:v>
                </c:pt>
                <c:pt idx="8">
                  <c:v>0.66666666666666663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0.33333333333333331</c:v>
                </c:pt>
                <c:pt idx="14">
                  <c:v>0.33333333333333331</c:v>
                </c:pt>
                <c:pt idx="15">
                  <c:v>0.33333333333333331</c:v>
                </c:pt>
                <c:pt idx="16">
                  <c:v>0.16666666666666666</c:v>
                </c:pt>
                <c:pt idx="17">
                  <c:v>0.16666666666666666</c:v>
                </c:pt>
                <c:pt idx="18">
                  <c:v>0.16666666666666666</c:v>
                </c:pt>
                <c:pt idx="19">
                  <c:v>0.16666666666666666</c:v>
                </c:pt>
                <c:pt idx="20">
                  <c:v>0.16666666666666666</c:v>
                </c:pt>
                <c:pt idx="21">
                  <c:v>0.16666666666666666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EE4-41F4-9E9E-0DD2562E6C3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79434367"/>
        <c:axId val="1079431967"/>
      </c:barChart>
      <c:catAx>
        <c:axId val="1079434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79431967"/>
        <c:crosses val="autoZero"/>
        <c:auto val="1"/>
        <c:lblAlgn val="ctr"/>
        <c:lblOffset val="100"/>
        <c:noMultiLvlLbl val="0"/>
      </c:catAx>
      <c:valAx>
        <c:axId val="1079431967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7943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78E-4B6C-B913-893380A6972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78E-4B6C-B913-893380A69723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78E-4B6C-B913-893380A69723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078E-4B6C-B913-893380A6972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'[SYNTHESE DES EVALUATIONS DES COMPETENCES DE LA FDV ANNEE 2025.xlsx]CSC (LITTORAL)'!$AG$4:$AJ$4</c:f>
              <c:strCache>
                <c:ptCount val="4"/>
                <c:pt idx="0">
                  <c:v>&lt;50%</c:v>
                </c:pt>
                <c:pt idx="1">
                  <c:v>Entre 50 et 70%</c:v>
                </c:pt>
                <c:pt idx="2">
                  <c:v>Entre 70 et 80%</c:v>
                </c:pt>
                <c:pt idx="3">
                  <c:v>&gt;80%</c:v>
                </c:pt>
              </c:strCache>
            </c:strRef>
          </c:cat>
          <c:val>
            <c:numRef>
              <c:f>'[SYNTHESE DES EVALUATIONS DES COMPETENCES DE LA FDV ANNEE 2025.xlsx]CSC (LITTORAL)'!$AG$5:$AJ$5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8E-4B6C-B913-893380A6972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'[SYNTHESE DES EVALUATIONS DES COMPETENCES DE LA FDV ANNEE 2025.xlsx]CSC (LITTORAL)'!$C$2:$AB$2</c:f>
              <c:strCache>
                <c:ptCount val="26"/>
                <c:pt idx="0">
                  <c:v>Organisation des informations</c:v>
                </c:pt>
                <c:pt idx="1">
                  <c:v>Courage managérial</c:v>
                </c:pt>
                <c:pt idx="2">
                  <c:v>Techniques Statistiques</c:v>
                </c:pt>
                <c:pt idx="3">
                  <c:v>Connaissance produit</c:v>
                </c:pt>
                <c:pt idx="4">
                  <c:v>Présentation</c:v>
                </c:pt>
                <c:pt idx="5">
                  <c:v>Partage des connaissances et compétences</c:v>
                </c:pt>
                <c:pt idx="6">
                  <c:v>Respect et écoute des opinions des autres</c:v>
                </c:pt>
                <c:pt idx="7">
                  <c:v>Méthode</c:v>
                </c:pt>
                <c:pt idx="8">
                  <c:v>Gestion des budgets</c:v>
                </c:pt>
                <c:pt idx="9">
                  <c:v>Planification</c:v>
                </c:pt>
                <c:pt idx="10">
                  <c:v>Suivi et analyse des ventes</c:v>
                </c:pt>
                <c:pt idx="11">
                  <c:v>Capacité de mobilisation des équipes</c:v>
                </c:pt>
                <c:pt idx="12">
                  <c:v>Force de conviction</c:v>
                </c:pt>
                <c:pt idx="13">
                  <c:v>Capacité d'impliquer les équipes</c:v>
                </c:pt>
                <c:pt idx="14">
                  <c:v>Techniques de Management des Équipes</c:v>
                </c:pt>
                <c:pt idx="15">
                  <c:v>Techniques de Communication</c:v>
                </c:pt>
                <c:pt idx="16">
                  <c:v>Techniques de Commercialisation</c:v>
                </c:pt>
                <c:pt idx="17">
                  <c:v>Analyse des Données et Reporting</c:v>
                </c:pt>
                <c:pt idx="18">
                  <c:v>Capacité à influencer</c:v>
                </c:pt>
                <c:pt idx="19">
                  <c:v>Gestion des priorités</c:v>
                </c:pt>
                <c:pt idx="20">
                  <c:v>Leadership inspirationnel</c:v>
                </c:pt>
                <c:pt idx="21">
                  <c:v>Leadership</c:v>
                </c:pt>
                <c:pt idx="22">
                  <c:v>Techniques de Veille Concurrentielle</c:v>
                </c:pt>
                <c:pt idx="23">
                  <c:v>Gestion du temps</c:v>
                </c:pt>
                <c:pt idx="24">
                  <c:v>Techniques de Conduite du Changement</c:v>
                </c:pt>
                <c:pt idx="25">
                  <c:v>Techniques d'Analyse du Marché</c:v>
                </c:pt>
              </c:strCache>
            </c:strRef>
          </c:cat>
          <c:val>
            <c:numRef>
              <c:f>'[SYNTHESE DES EVALUATIONS DES COMPETENCES DE LA FDV ANNEE 2025.xlsx]CSC (LITTORAL)'!$C$13:$AB$13</c:f>
              <c:numCache>
                <c:formatCode>0.0</c:formatCode>
                <c:ptCount val="26"/>
                <c:pt idx="0">
                  <c:v>3.1666666666666665</c:v>
                </c:pt>
                <c:pt idx="1">
                  <c:v>3.3333333333333335</c:v>
                </c:pt>
                <c:pt idx="2">
                  <c:v>3.0833333333333335</c:v>
                </c:pt>
                <c:pt idx="3">
                  <c:v>3.25</c:v>
                </c:pt>
                <c:pt idx="4">
                  <c:v>3.1388888888888893</c:v>
                </c:pt>
                <c:pt idx="5">
                  <c:v>3.1111111111111107</c:v>
                </c:pt>
                <c:pt idx="6">
                  <c:v>3.5555555555555558</c:v>
                </c:pt>
                <c:pt idx="7">
                  <c:v>3</c:v>
                </c:pt>
                <c:pt idx="8">
                  <c:v>3.8888888888888893</c:v>
                </c:pt>
                <c:pt idx="9">
                  <c:v>2.7222222222222228</c:v>
                </c:pt>
                <c:pt idx="10">
                  <c:v>3.4166666666666665</c:v>
                </c:pt>
                <c:pt idx="11">
                  <c:v>3.8611111111111107</c:v>
                </c:pt>
                <c:pt idx="12">
                  <c:v>3.6111111111111107</c:v>
                </c:pt>
                <c:pt idx="13">
                  <c:v>3.5277777777777772</c:v>
                </c:pt>
                <c:pt idx="14">
                  <c:v>3.3611111111111107</c:v>
                </c:pt>
                <c:pt idx="15">
                  <c:v>3.25</c:v>
                </c:pt>
                <c:pt idx="16">
                  <c:v>3</c:v>
                </c:pt>
                <c:pt idx="17">
                  <c:v>3.1111111111111107</c:v>
                </c:pt>
                <c:pt idx="18">
                  <c:v>3.3611111111111107</c:v>
                </c:pt>
                <c:pt idx="19">
                  <c:v>3.1666666666666665</c:v>
                </c:pt>
                <c:pt idx="20">
                  <c:v>3.1944444444444442</c:v>
                </c:pt>
                <c:pt idx="21">
                  <c:v>3.3333333333333335</c:v>
                </c:pt>
                <c:pt idx="22">
                  <c:v>2.6111111111111112</c:v>
                </c:pt>
                <c:pt idx="23">
                  <c:v>2.8611111111111107</c:v>
                </c:pt>
                <c:pt idx="24">
                  <c:v>3.25</c:v>
                </c:pt>
                <c:pt idx="25">
                  <c:v>2.8611111111111107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D-44B3-802B-771EA3584BD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79434367"/>
        <c:axId val="1079431967"/>
      </c:barChart>
      <c:catAx>
        <c:axId val="1079434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79431967"/>
        <c:crosses val="autoZero"/>
        <c:auto val="1"/>
        <c:lblAlgn val="ctr"/>
        <c:lblOffset val="100"/>
        <c:noMultiLvlLbl val="0"/>
      </c:catAx>
      <c:valAx>
        <c:axId val="1079431967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7943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83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63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76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50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2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80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20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0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59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22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32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4368800" y="4941888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508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03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08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17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60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98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5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6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03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846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2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B887E-DA09-457B-AE5E-8345E904C99F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848BB-0F51-4B9B-8EC8-9664A8ED66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10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7807873-39CE-AE3D-EB5F-8752E0F04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Les résultats des évaluations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24D5FA9-8E7F-1A52-2B5A-E54FEC746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0070C0"/>
                </a:solidFill>
              </a:rPr>
              <a:t>Synthèse des résultats région du Littoral</a:t>
            </a:r>
          </a:p>
        </p:txBody>
      </p:sp>
    </p:spTree>
    <p:extLst>
      <p:ext uri="{BB962C8B-B14F-4D97-AF65-F5344CB8AC3E}">
        <p14:creationId xmlns:p14="http://schemas.microsoft.com/office/powerpoint/2010/main" val="379307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945F-54C5-D88E-3040-6E74CE40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DB52AA9-9610-C1C1-F44A-0576662A2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NIVEAU CDS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89CBE67-76B2-7B55-5AA7-B31232DCF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0070C0"/>
                </a:solidFill>
              </a:rPr>
              <a:t>Evaluation des compétences</a:t>
            </a:r>
          </a:p>
        </p:txBody>
      </p:sp>
    </p:spTree>
    <p:extLst>
      <p:ext uri="{BB962C8B-B14F-4D97-AF65-F5344CB8AC3E}">
        <p14:creationId xmlns:p14="http://schemas.microsoft.com/office/powerpoint/2010/main" val="185329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9715-179E-040E-C6E2-B65E2199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94A18C12-E8E8-4447-A802-4DCC3FE1DE04}"/>
              </a:ext>
            </a:extLst>
          </p:cNvPr>
          <p:cNvGraphicFramePr>
            <a:graphicFrameLocks/>
          </p:cNvGraphicFramePr>
          <p:nvPr/>
        </p:nvGraphicFramePr>
        <p:xfrm>
          <a:off x="345057" y="715992"/>
          <a:ext cx="11352360" cy="586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2E01D63-FA84-F338-3019-9663C99F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1" y="-148050"/>
            <a:ext cx="8784772" cy="1143000"/>
          </a:xfrm>
        </p:spPr>
        <p:txBody>
          <a:bodyPr>
            <a:noAutofit/>
          </a:bodyPr>
          <a:lstStyle/>
          <a:p>
            <a:r>
              <a:rPr sz="3200" dirty="0" err="1"/>
              <a:t>Taux</a:t>
            </a:r>
            <a:r>
              <a:rPr sz="3200" dirty="0"/>
              <a:t> </a:t>
            </a:r>
            <a:r>
              <a:rPr sz="3200" dirty="0" err="1"/>
              <a:t>d'acquisition</a:t>
            </a:r>
            <a:r>
              <a:rPr sz="3200" dirty="0"/>
              <a:t> </a:t>
            </a:r>
            <a:r>
              <a:rPr lang="fr-FR" sz="3200" dirty="0"/>
              <a:t>des </a:t>
            </a:r>
            <a:r>
              <a:rPr sz="3200" dirty="0" err="1"/>
              <a:t>compétences</a:t>
            </a:r>
            <a:r>
              <a:rPr lang="fr-FR" sz="3200" dirty="0"/>
              <a:t> par les CDS</a:t>
            </a:r>
            <a:endParaRPr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37FC3-4386-88FF-02D4-20CC77AE312B}"/>
              </a:ext>
            </a:extLst>
          </p:cNvPr>
          <p:cNvSpPr/>
          <p:nvPr/>
        </p:nvSpPr>
        <p:spPr>
          <a:xfrm>
            <a:off x="345056" y="776377"/>
            <a:ext cx="11352361" cy="2652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719813D-00A3-8226-570E-A4B24F26720E}"/>
              </a:ext>
            </a:extLst>
          </p:cNvPr>
          <p:cNvSpPr txBox="1"/>
          <p:nvPr/>
        </p:nvSpPr>
        <p:spPr>
          <a:xfrm>
            <a:off x="7821714" y="1028671"/>
            <a:ext cx="36578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compétences sur 21 ne sont pas acquises par plus de 50% de la population des CDS</a:t>
            </a:r>
          </a:p>
        </p:txBody>
      </p:sp>
    </p:spTree>
    <p:extLst>
      <p:ext uri="{BB962C8B-B14F-4D97-AF65-F5344CB8AC3E}">
        <p14:creationId xmlns:p14="http://schemas.microsoft.com/office/powerpoint/2010/main" val="34722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8A3A-54D9-27B2-F2A5-BA5C5F55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F34C64EC-DEDB-4F37-B2D4-701DA6DFDB1B}"/>
              </a:ext>
            </a:extLst>
          </p:cNvPr>
          <p:cNvGraphicFramePr>
            <a:graphicFrameLocks/>
          </p:cNvGraphicFramePr>
          <p:nvPr/>
        </p:nvGraphicFramePr>
        <p:xfrm>
          <a:off x="573813" y="846137"/>
          <a:ext cx="11253002" cy="578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BD5608-ECAF-B985-A8E6-C9CCB93F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-231357"/>
            <a:ext cx="11810082" cy="1143000"/>
          </a:xfrm>
        </p:spPr>
        <p:txBody>
          <a:bodyPr>
            <a:normAutofit fontScale="90000"/>
          </a:bodyPr>
          <a:lstStyle/>
          <a:p>
            <a:pPr>
              <a:defRPr sz="18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fr-FR" sz="3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Structure du niveau d'acquisition des compétences par les CDS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C516A4-A39E-1BC4-DB1A-D9AECE6F4A5B}"/>
              </a:ext>
            </a:extLst>
          </p:cNvPr>
          <p:cNvSpPr txBox="1"/>
          <p:nvPr/>
        </p:nvSpPr>
        <p:spPr>
          <a:xfrm>
            <a:off x="8681292" y="1639359"/>
            <a:ext cx="2936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 CDS soit 46 0% des effectifs n’ont pas la maitrise de 50% des compétences du métier.</a:t>
            </a:r>
          </a:p>
        </p:txBody>
      </p:sp>
    </p:spTree>
    <p:extLst>
      <p:ext uri="{BB962C8B-B14F-4D97-AF65-F5344CB8AC3E}">
        <p14:creationId xmlns:p14="http://schemas.microsoft.com/office/powerpoint/2010/main" val="180081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971" y="0"/>
            <a:ext cx="9111342" cy="517793"/>
          </a:xfrm>
        </p:spPr>
        <p:txBody>
          <a:bodyPr>
            <a:noAutofit/>
          </a:bodyPr>
          <a:lstStyle/>
          <a:p>
            <a:r>
              <a:rPr lang="fr-FR" sz="3600" dirty="0"/>
              <a:t>Score</a:t>
            </a:r>
            <a:r>
              <a:rPr sz="3600" dirty="0"/>
              <a:t> </a:t>
            </a:r>
            <a:r>
              <a:rPr sz="3600" dirty="0" err="1"/>
              <a:t>moyen</a:t>
            </a:r>
            <a:r>
              <a:rPr sz="3600" dirty="0"/>
              <a:t> </a:t>
            </a:r>
            <a:r>
              <a:rPr lang="fr-FR" sz="3600" dirty="0"/>
              <a:t>par</a:t>
            </a:r>
            <a:r>
              <a:rPr sz="3600" dirty="0"/>
              <a:t> </a:t>
            </a:r>
            <a:r>
              <a:rPr sz="3600" dirty="0" err="1"/>
              <a:t>compétence</a:t>
            </a:r>
            <a:endParaRPr sz="3600" dirty="0"/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7B178E75-FC7C-4467-B9E9-8997A7418C66}"/>
              </a:ext>
            </a:extLst>
          </p:cNvPr>
          <p:cNvGraphicFramePr>
            <a:graphicFrameLocks/>
          </p:cNvGraphicFramePr>
          <p:nvPr/>
        </p:nvGraphicFramePr>
        <p:xfrm>
          <a:off x="473725" y="649995"/>
          <a:ext cx="11060935" cy="6081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CDS - Top 8 Compétences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C62E1B8-361E-60C0-5BC5-CE3FAC3AC0D7}"/>
              </a:ext>
            </a:extLst>
          </p:cNvPr>
          <p:cNvGraphicFramePr>
            <a:graphicFrameLocks noGrp="1"/>
          </p:cNvGraphicFramePr>
          <p:nvPr/>
        </p:nvGraphicFramePr>
        <p:xfrm>
          <a:off x="1421176" y="1417637"/>
          <a:ext cx="10161224" cy="4762824"/>
        </p:xfrm>
        <a:graphic>
          <a:graphicData uri="http://schemas.openxmlformats.org/drawingml/2006/table">
            <a:tbl>
              <a:tblPr/>
              <a:tblGrid>
                <a:gridCol w="6191606">
                  <a:extLst>
                    <a:ext uri="{9D8B030D-6E8A-4147-A177-3AD203B41FA5}">
                      <a16:colId xmlns:a16="http://schemas.microsoft.com/office/drawing/2014/main" val="536819921"/>
                    </a:ext>
                  </a:extLst>
                </a:gridCol>
                <a:gridCol w="2471649">
                  <a:extLst>
                    <a:ext uri="{9D8B030D-6E8A-4147-A177-3AD203B41FA5}">
                      <a16:colId xmlns:a16="http://schemas.microsoft.com/office/drawing/2014/main" val="3543191253"/>
                    </a:ext>
                  </a:extLst>
                </a:gridCol>
                <a:gridCol w="1497969">
                  <a:extLst>
                    <a:ext uri="{9D8B030D-6E8A-4147-A177-3AD203B41FA5}">
                      <a16:colId xmlns:a16="http://schemas.microsoft.com/office/drawing/2014/main" val="3333250683"/>
                    </a:ext>
                  </a:extLst>
                </a:gridCol>
              </a:tblGrid>
              <a:tr h="9425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 moyenne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966421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Connaissance du produit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92449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Esprit d'Équipe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464294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Empathie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766530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Respect et écoute des opinions des autres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87431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ventes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671855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Organisation des informations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74267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Capacité à influencer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29731"/>
                  </a:ext>
                </a:extLst>
              </a:tr>
              <a:tr h="47753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Analyse des données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9859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CDS - Bottom 8 Compétences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DB3C1BF-F95E-64C6-4CF3-73E2120C7A26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729648"/>
          <a:ext cx="10671672" cy="4324350"/>
        </p:xfrm>
        <a:graphic>
          <a:graphicData uri="http://schemas.openxmlformats.org/drawingml/2006/table">
            <a:tbl>
              <a:tblPr/>
              <a:tblGrid>
                <a:gridCol w="6502640">
                  <a:extLst>
                    <a:ext uri="{9D8B030D-6E8A-4147-A177-3AD203B41FA5}">
                      <a16:colId xmlns:a16="http://schemas.microsoft.com/office/drawing/2014/main" val="3627953833"/>
                    </a:ext>
                  </a:extLst>
                </a:gridCol>
                <a:gridCol w="2595812">
                  <a:extLst>
                    <a:ext uri="{9D8B030D-6E8A-4147-A177-3AD203B41FA5}">
                      <a16:colId xmlns:a16="http://schemas.microsoft.com/office/drawing/2014/main" val="1126001540"/>
                    </a:ext>
                  </a:extLst>
                </a:gridCol>
                <a:gridCol w="1573220">
                  <a:extLst>
                    <a:ext uri="{9D8B030D-6E8A-4147-A177-3AD203B41FA5}">
                      <a16:colId xmlns:a16="http://schemas.microsoft.com/office/drawing/2014/main" val="3497797632"/>
                    </a:ext>
                  </a:extLst>
                </a:gridCol>
              </a:tblGrid>
              <a:tr h="74342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85893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Organisation du Travail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74663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 de l'anticipation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199485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 du contact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03726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Suivi et Animation des Ventes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205788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Négociation commerciale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568446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Écoute Active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19475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Force de proposition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025784"/>
                  </a:ext>
                </a:extLst>
              </a:tr>
              <a:tr h="3766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Analyse du Marché et de la Concurrence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3489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62CD-04F2-8599-36AE-F938E778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5F38A5B-C1B0-C780-4AEE-8698DA507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NIVEAU CDV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29E3D60D-37BB-9A56-26FF-F6ED49210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0070C0"/>
                </a:solidFill>
              </a:rPr>
              <a:t>Evaluation des compétences</a:t>
            </a:r>
          </a:p>
        </p:txBody>
      </p:sp>
    </p:spTree>
    <p:extLst>
      <p:ext uri="{BB962C8B-B14F-4D97-AF65-F5344CB8AC3E}">
        <p14:creationId xmlns:p14="http://schemas.microsoft.com/office/powerpoint/2010/main" val="211453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8381-DF2E-9862-4EEF-CA53E236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C1A5-28B6-CE1A-245F-EDAA3EE1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1" y="32265"/>
            <a:ext cx="8784772" cy="451983"/>
          </a:xfrm>
        </p:spPr>
        <p:txBody>
          <a:bodyPr>
            <a:noAutofit/>
          </a:bodyPr>
          <a:lstStyle/>
          <a:p>
            <a:r>
              <a:rPr lang="fr-FR" sz="3200" dirty="0"/>
              <a:t>Matrice des </a:t>
            </a:r>
            <a:r>
              <a:rPr sz="3200" dirty="0" err="1"/>
              <a:t>compétences</a:t>
            </a:r>
            <a:r>
              <a:rPr lang="fr-FR" sz="3200" dirty="0"/>
              <a:t> CDV</a:t>
            </a:r>
            <a:endParaRPr sz="320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50810E4-D12D-6DEE-23D1-05DC8FC49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17991"/>
              </p:ext>
            </p:extLst>
          </p:nvPr>
        </p:nvGraphicFramePr>
        <p:xfrm>
          <a:off x="207034" y="1009291"/>
          <a:ext cx="11818199" cy="4663086"/>
        </p:xfrm>
        <a:graphic>
          <a:graphicData uri="http://schemas.openxmlformats.org/drawingml/2006/table">
            <a:tbl>
              <a:tblPr/>
              <a:tblGrid>
                <a:gridCol w="1100952">
                  <a:extLst>
                    <a:ext uri="{9D8B030D-6E8A-4147-A177-3AD203B41FA5}">
                      <a16:colId xmlns:a16="http://schemas.microsoft.com/office/drawing/2014/main" val="2275020783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97234550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307660313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2869742064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2401563872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102360187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041990381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522658327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898179701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031148428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825823579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825046383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437062938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05616990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203801919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60808646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4161549221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684562665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926830841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406860853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114660565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3601744287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2946837398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4284653562"/>
                    </a:ext>
                  </a:extLst>
                </a:gridCol>
                <a:gridCol w="409204">
                  <a:extLst>
                    <a:ext uri="{9D8B030D-6E8A-4147-A177-3AD203B41FA5}">
                      <a16:colId xmlns:a16="http://schemas.microsoft.com/office/drawing/2014/main" val="2976842869"/>
                    </a:ext>
                  </a:extLst>
                </a:gridCol>
                <a:gridCol w="311774">
                  <a:extLst>
                    <a:ext uri="{9D8B030D-6E8A-4147-A177-3AD203B41FA5}">
                      <a16:colId xmlns:a16="http://schemas.microsoft.com/office/drawing/2014/main" val="1100671283"/>
                    </a:ext>
                  </a:extLst>
                </a:gridCol>
                <a:gridCol w="584577">
                  <a:extLst>
                    <a:ext uri="{9D8B030D-6E8A-4147-A177-3AD203B41FA5}">
                      <a16:colId xmlns:a16="http://schemas.microsoft.com/office/drawing/2014/main" val="1305745191"/>
                    </a:ext>
                  </a:extLst>
                </a:gridCol>
              </a:tblGrid>
              <a:tr h="238983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800" b="1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Partage des connaissances et compétences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Respect et écoute des opinions des autres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Management des Équipes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des priorités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 inspirationnel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Organisation des informations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Présentation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Courage managérial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 de la Planification et de la Méthode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Conduite du Changement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Marketing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Capacité à influencer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Statistiques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Connaissance produit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Communication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Force de conviction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Commercialisation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Suivi et analyse des ventes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du temps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Vente et de Négociation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Analyse des Données et Reporting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d'Analyse du Marché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Veille Concurrentielle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Note générale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Taux d'acquisition des compétences</a:t>
                      </a:r>
                    </a:p>
                  </a:txBody>
                  <a:tcPr marL="4523" marR="4523" marT="4523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803517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Niveau requis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F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237897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F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F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162200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CDV1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F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15,3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79,2%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180103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CDV2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12,1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685708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CDV3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11,3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45,8%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47495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CDV4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10,1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37,5%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108821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CDV5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11,8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62,5%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400858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CDV6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12,9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54,2%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031260"/>
                  </a:ext>
                </a:extLst>
              </a:tr>
              <a:tr h="23315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 d'acquisition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83,3%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83,3%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83,3%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66,7%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66,7%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66,7%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66,7%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66,7%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50,0%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50,0%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effectLst/>
                          <a:latin typeface="Calibri" panose="020F0502020204030204" pitchFamily="34" charset="0"/>
                        </a:rPr>
                        <a:t>50,0%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33,3%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33,3%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16,7%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16,7%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16,7%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0,0%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effectLst/>
                          <a:latin typeface="Calibri" panose="020F0502020204030204" pitchFamily="34" charset="0"/>
                        </a:rPr>
                        <a:t>12,3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56,3%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64712"/>
                  </a:ext>
                </a:extLst>
              </a:tr>
              <a:tr h="17486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Note moyenne</a:t>
                      </a:r>
                    </a:p>
                  </a:txBody>
                  <a:tcPr marL="4523" marR="4523" marT="452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3,7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3,6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3,1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3,1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3,7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3,3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23" marR="4523" marT="452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23" marR="4523" marT="45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78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35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BB50-AFE2-7543-3468-C7A54BEF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560A588E-5691-4F37-E4CE-E2F17D94238C}"/>
              </a:ext>
            </a:extLst>
          </p:cNvPr>
          <p:cNvGraphicFramePr>
            <a:graphicFrameLocks/>
          </p:cNvGraphicFramePr>
          <p:nvPr/>
        </p:nvGraphicFramePr>
        <p:xfrm>
          <a:off x="124859" y="561859"/>
          <a:ext cx="11938612" cy="6136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F145475-A223-4B7B-6D53-394A5A2F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1" y="32265"/>
            <a:ext cx="8784772" cy="451983"/>
          </a:xfrm>
        </p:spPr>
        <p:txBody>
          <a:bodyPr>
            <a:noAutofit/>
          </a:bodyPr>
          <a:lstStyle/>
          <a:p>
            <a:r>
              <a:rPr sz="3200" dirty="0" err="1"/>
              <a:t>Taux</a:t>
            </a:r>
            <a:r>
              <a:rPr sz="3200" dirty="0"/>
              <a:t> </a:t>
            </a:r>
            <a:r>
              <a:rPr sz="3200" dirty="0" err="1"/>
              <a:t>d'acquisition</a:t>
            </a:r>
            <a:r>
              <a:rPr sz="3200" dirty="0"/>
              <a:t> </a:t>
            </a:r>
            <a:r>
              <a:rPr lang="fr-FR" sz="3200" dirty="0"/>
              <a:t>des </a:t>
            </a:r>
            <a:r>
              <a:rPr sz="3200" dirty="0" err="1"/>
              <a:t>compétences</a:t>
            </a:r>
            <a:r>
              <a:rPr lang="fr-FR" sz="3200" dirty="0"/>
              <a:t> par les CDV</a:t>
            </a:r>
            <a:endParaRPr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E5504-1E2A-26CE-29E6-E63B288F7BF6}"/>
              </a:ext>
            </a:extLst>
          </p:cNvPr>
          <p:cNvSpPr/>
          <p:nvPr/>
        </p:nvSpPr>
        <p:spPr>
          <a:xfrm>
            <a:off x="128530" y="641042"/>
            <a:ext cx="11931268" cy="26860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E3977D-69FE-4451-82BF-27970369EB23}"/>
              </a:ext>
            </a:extLst>
          </p:cNvPr>
          <p:cNvSpPr txBox="1"/>
          <p:nvPr/>
        </p:nvSpPr>
        <p:spPr>
          <a:xfrm>
            <a:off x="7886806" y="884005"/>
            <a:ext cx="36478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 compétences sur 24 ne sont pas acquises par plus de 50% de la population des CDV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448E89-0622-38E5-52C2-524CDF1204A6}"/>
              </a:ext>
            </a:extLst>
          </p:cNvPr>
          <p:cNvSpPr txBox="1"/>
          <p:nvPr/>
        </p:nvSpPr>
        <p:spPr>
          <a:xfrm>
            <a:off x="9320270" y="3790625"/>
            <a:ext cx="2746872" cy="10156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 cas de contradictions dans les évaluations</a:t>
            </a:r>
          </a:p>
        </p:txBody>
      </p:sp>
    </p:spTree>
    <p:extLst>
      <p:ext uri="{BB962C8B-B14F-4D97-AF65-F5344CB8AC3E}">
        <p14:creationId xmlns:p14="http://schemas.microsoft.com/office/powerpoint/2010/main" val="341874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7692-A981-5048-214A-C6891347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65D3F517-CAF7-4407-A423-BD214DB032D6}"/>
              </a:ext>
            </a:extLst>
          </p:cNvPr>
          <p:cNvGraphicFramePr>
            <a:graphicFrameLocks/>
          </p:cNvGraphicFramePr>
          <p:nvPr/>
        </p:nvGraphicFramePr>
        <p:xfrm>
          <a:off x="0" y="627961"/>
          <a:ext cx="11909234" cy="6153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16E55-A752-B138-8D6F-271EA212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8" y="76332"/>
            <a:ext cx="11909234" cy="551629"/>
          </a:xfrm>
        </p:spPr>
        <p:txBody>
          <a:bodyPr>
            <a:normAutofit fontScale="90000"/>
          </a:bodyPr>
          <a:lstStyle/>
          <a:p>
            <a:pPr>
              <a:defRPr sz="18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fr-FR" sz="3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Structure du niveau d'acquisition des compétences par les CDV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C1E103-5522-D329-ADA8-31524E403A5B}"/>
              </a:ext>
            </a:extLst>
          </p:cNvPr>
          <p:cNvSpPr txBox="1"/>
          <p:nvPr/>
        </p:nvSpPr>
        <p:spPr>
          <a:xfrm>
            <a:off x="8748809" y="1010318"/>
            <a:ext cx="27832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CDV ont la maitrise de plus de 50% des compétences du métier.</a:t>
            </a:r>
          </a:p>
        </p:txBody>
      </p:sp>
    </p:spTree>
    <p:extLst>
      <p:ext uri="{BB962C8B-B14F-4D97-AF65-F5344CB8AC3E}">
        <p14:creationId xmlns:p14="http://schemas.microsoft.com/office/powerpoint/2010/main" val="101620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91"/>
            <a:ext cx="12058650" cy="705076"/>
          </a:xfrm>
        </p:spPr>
        <p:txBody>
          <a:bodyPr>
            <a:noAutofit/>
          </a:bodyPr>
          <a:lstStyle/>
          <a:p>
            <a:r>
              <a:rPr lang="fr-FR" sz="3600" dirty="0"/>
              <a:t>Niveau moyen </a:t>
            </a:r>
            <a:r>
              <a:rPr sz="3600" dirty="0" err="1"/>
              <a:t>d'acquisition</a:t>
            </a:r>
            <a:r>
              <a:rPr sz="3600" dirty="0"/>
              <a:t> des </a:t>
            </a:r>
            <a:r>
              <a:rPr sz="3600" dirty="0" err="1"/>
              <a:t>compétences</a:t>
            </a:r>
            <a:endParaRPr sz="3600" dirty="0"/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6D21CB62-5E85-476C-8154-8F8072CE89AE}"/>
              </a:ext>
            </a:extLst>
          </p:cNvPr>
          <p:cNvGraphicFramePr>
            <a:graphicFrameLocks/>
          </p:cNvGraphicFramePr>
          <p:nvPr/>
        </p:nvGraphicFramePr>
        <p:xfrm>
          <a:off x="133350" y="614149"/>
          <a:ext cx="11925300" cy="6100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CDV - Top 8 Compétences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0D9BB98-899C-EBEF-CC69-3AEF379E531A}"/>
              </a:ext>
            </a:extLst>
          </p:cNvPr>
          <p:cNvGraphicFramePr>
            <a:graphicFrameLocks noGrp="1"/>
          </p:cNvGraphicFramePr>
          <p:nvPr/>
        </p:nvGraphicFramePr>
        <p:xfrm>
          <a:off x="491319" y="1417638"/>
          <a:ext cx="10972801" cy="5135256"/>
        </p:xfrm>
        <a:graphic>
          <a:graphicData uri="http://schemas.openxmlformats.org/drawingml/2006/table">
            <a:tbl>
              <a:tblPr/>
              <a:tblGrid>
                <a:gridCol w="6113995">
                  <a:extLst>
                    <a:ext uri="{9D8B030D-6E8A-4147-A177-3AD203B41FA5}">
                      <a16:colId xmlns:a16="http://schemas.microsoft.com/office/drawing/2014/main" val="3177249027"/>
                    </a:ext>
                  </a:extLst>
                </a:gridCol>
                <a:gridCol w="2429403">
                  <a:extLst>
                    <a:ext uri="{9D8B030D-6E8A-4147-A177-3AD203B41FA5}">
                      <a16:colId xmlns:a16="http://schemas.microsoft.com/office/drawing/2014/main" val="3761124101"/>
                    </a:ext>
                  </a:extLst>
                </a:gridCol>
                <a:gridCol w="2429403">
                  <a:extLst>
                    <a:ext uri="{9D8B030D-6E8A-4147-A177-3AD203B41FA5}">
                      <a16:colId xmlns:a16="http://schemas.microsoft.com/office/drawing/2014/main" val="558696323"/>
                    </a:ext>
                  </a:extLst>
                </a:gridCol>
              </a:tblGrid>
              <a:tr h="109395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900112"/>
                  </a:ext>
                </a:extLst>
              </a:tr>
              <a:tr h="73255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421752"/>
                  </a:ext>
                </a:extLst>
              </a:tr>
              <a:tr h="52548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Partage des connaissances et compétences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735726"/>
                  </a:ext>
                </a:extLst>
              </a:tr>
              <a:tr h="52548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Respect et écoute des opinions des autres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782600"/>
                  </a:ext>
                </a:extLst>
              </a:tr>
              <a:tr h="525488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Management des Équipes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308814"/>
                  </a:ext>
                </a:extLst>
              </a:tr>
              <a:tr h="371163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Courage managérial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551111"/>
                  </a:ext>
                </a:extLst>
              </a:tr>
              <a:tr h="371163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Statistiques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348279"/>
                  </a:ext>
                </a:extLst>
              </a:tr>
              <a:tr h="371163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des priorités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259641"/>
                  </a:ext>
                </a:extLst>
              </a:tr>
              <a:tr h="371163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 </a:t>
                      </a:r>
                      <a:r>
                        <a:rPr lang="fr-FR" sz="2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inspirationnel</a:t>
                      </a:r>
                      <a:endParaRPr lang="fr-FR" sz="24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261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8"/>
            <a:ext cx="10972800" cy="651192"/>
          </a:xfrm>
        </p:spPr>
        <p:txBody>
          <a:bodyPr>
            <a:normAutofit fontScale="90000"/>
          </a:bodyPr>
          <a:lstStyle/>
          <a:p>
            <a:r>
              <a:rPr dirty="0"/>
              <a:t>CDV - Bottom 8 </a:t>
            </a:r>
            <a:r>
              <a:rPr dirty="0" err="1"/>
              <a:t>Compétences</a:t>
            </a:r>
            <a:endParaRPr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4A19FA9-770B-A782-C189-F45637BAB45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996287"/>
          <a:ext cx="10972800" cy="5282870"/>
        </p:xfrm>
        <a:graphic>
          <a:graphicData uri="http://schemas.openxmlformats.org/drawingml/2006/table">
            <a:tbl>
              <a:tblPr/>
              <a:tblGrid>
                <a:gridCol w="6113996">
                  <a:extLst>
                    <a:ext uri="{9D8B030D-6E8A-4147-A177-3AD203B41FA5}">
                      <a16:colId xmlns:a16="http://schemas.microsoft.com/office/drawing/2014/main" val="3511341852"/>
                    </a:ext>
                  </a:extLst>
                </a:gridCol>
                <a:gridCol w="2429402">
                  <a:extLst>
                    <a:ext uri="{9D8B030D-6E8A-4147-A177-3AD203B41FA5}">
                      <a16:colId xmlns:a16="http://schemas.microsoft.com/office/drawing/2014/main" val="1409257432"/>
                    </a:ext>
                  </a:extLst>
                </a:gridCol>
                <a:gridCol w="2429402">
                  <a:extLst>
                    <a:ext uri="{9D8B030D-6E8A-4147-A177-3AD203B41FA5}">
                      <a16:colId xmlns:a16="http://schemas.microsoft.com/office/drawing/2014/main" val="56672150"/>
                    </a:ext>
                  </a:extLst>
                </a:gridCol>
              </a:tblGrid>
              <a:tr h="106302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45606"/>
                  </a:ext>
                </a:extLst>
              </a:tr>
              <a:tr h="7118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Force de conviction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612743"/>
                  </a:ext>
                </a:extLst>
              </a:tr>
              <a:tr h="3606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Suivi et analyse des ventes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55079"/>
                  </a:ext>
                </a:extLst>
              </a:tr>
              <a:tr h="5106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Analyse des Données et Reporting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82159"/>
                  </a:ext>
                </a:extLst>
              </a:tr>
              <a:tr h="3606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Commercialisation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894106"/>
                  </a:ext>
                </a:extLst>
              </a:tr>
              <a:tr h="3606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du temps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576408"/>
                  </a:ext>
                </a:extLst>
              </a:tr>
              <a:tr h="5106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Vente et de Négociation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37977"/>
                  </a:ext>
                </a:extLst>
              </a:tr>
              <a:tr h="3606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d'Analyse du Marché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18179"/>
                  </a:ext>
                </a:extLst>
              </a:tr>
              <a:tr h="510629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Veille Concurrentielle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688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55E4-C4ED-0C46-D42F-0910D402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44D6FA5-1F45-323E-379D-1157000FF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NIVEAU CSC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48FD15C0-D410-E8D5-AF5D-D36DBE1CFA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800" b="1" dirty="0">
                <a:solidFill>
                  <a:srgbClr val="0070C0"/>
                </a:solidFill>
              </a:rPr>
              <a:t>Evaluation des compétences</a:t>
            </a:r>
          </a:p>
        </p:txBody>
      </p:sp>
    </p:spTree>
    <p:extLst>
      <p:ext uri="{BB962C8B-B14F-4D97-AF65-F5344CB8AC3E}">
        <p14:creationId xmlns:p14="http://schemas.microsoft.com/office/powerpoint/2010/main" val="181185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0619-6360-3754-D0B6-C5F8E267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85F4362F-98D0-4F08-8FEF-BAD0061FECC2}"/>
              </a:ext>
            </a:extLst>
          </p:cNvPr>
          <p:cNvGraphicFramePr>
            <a:graphicFrameLocks/>
          </p:cNvGraphicFramePr>
          <p:nvPr/>
        </p:nvGraphicFramePr>
        <p:xfrm>
          <a:off x="171450" y="382137"/>
          <a:ext cx="11921490" cy="6399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C589E1B-8756-9636-ED28-2F7E0E13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1" y="-73795"/>
            <a:ext cx="8784772" cy="451983"/>
          </a:xfrm>
        </p:spPr>
        <p:txBody>
          <a:bodyPr>
            <a:noAutofit/>
          </a:bodyPr>
          <a:lstStyle/>
          <a:p>
            <a:r>
              <a:rPr sz="3200" dirty="0" err="1"/>
              <a:t>Taux</a:t>
            </a:r>
            <a:r>
              <a:rPr sz="3200" dirty="0"/>
              <a:t> </a:t>
            </a:r>
            <a:r>
              <a:rPr sz="3200" dirty="0" err="1"/>
              <a:t>d'acquisition</a:t>
            </a:r>
            <a:r>
              <a:rPr sz="3200" dirty="0"/>
              <a:t> </a:t>
            </a:r>
            <a:r>
              <a:rPr lang="fr-FR" sz="3200" dirty="0"/>
              <a:t>des </a:t>
            </a:r>
            <a:r>
              <a:rPr sz="3200" dirty="0" err="1"/>
              <a:t>compétences</a:t>
            </a:r>
            <a:r>
              <a:rPr lang="fr-FR" sz="3200" dirty="0"/>
              <a:t> par les CSC</a:t>
            </a:r>
            <a:endParaRPr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E1770E-1181-A9D2-1C45-080539A4FA99}"/>
              </a:ext>
            </a:extLst>
          </p:cNvPr>
          <p:cNvSpPr/>
          <p:nvPr/>
        </p:nvSpPr>
        <p:spPr>
          <a:xfrm>
            <a:off x="171450" y="382137"/>
            <a:ext cx="11921490" cy="3166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EDF8D6-C50A-730B-B4C4-76CEAB2217A6}"/>
              </a:ext>
            </a:extLst>
          </p:cNvPr>
          <p:cNvSpPr txBox="1"/>
          <p:nvPr/>
        </p:nvSpPr>
        <p:spPr>
          <a:xfrm>
            <a:off x="7336972" y="1379763"/>
            <a:ext cx="4683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 compétences sur 26 ne sont pas acquises par plus de 50% de la population des CSC</a:t>
            </a:r>
          </a:p>
        </p:txBody>
      </p:sp>
    </p:spTree>
    <p:extLst>
      <p:ext uri="{BB962C8B-B14F-4D97-AF65-F5344CB8AC3E}">
        <p14:creationId xmlns:p14="http://schemas.microsoft.com/office/powerpoint/2010/main" val="1710485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55AC-394F-A22D-EDD6-FE7483BF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E665E3F2-28A1-4EAD-999A-52BF14A4B890}"/>
              </a:ext>
            </a:extLst>
          </p:cNvPr>
          <p:cNvGraphicFramePr>
            <a:graphicFrameLocks/>
          </p:cNvGraphicFramePr>
          <p:nvPr/>
        </p:nvGraphicFramePr>
        <p:xfrm>
          <a:off x="179070" y="777922"/>
          <a:ext cx="11833859" cy="5827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B309C86-8BF0-27AB-0158-784EE8EA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5870"/>
            <a:ext cx="12012930" cy="1143000"/>
          </a:xfrm>
        </p:spPr>
        <p:txBody>
          <a:bodyPr>
            <a:normAutofit/>
          </a:bodyPr>
          <a:lstStyle/>
          <a:p>
            <a:pPr>
              <a:defRPr sz="18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fr-FR" sz="3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Structure du niveau d'acquisition des compétences par les CSC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45FB10-8709-769F-5797-797CB477502D}"/>
              </a:ext>
            </a:extLst>
          </p:cNvPr>
          <p:cNvSpPr txBox="1"/>
          <p:nvPr/>
        </p:nvSpPr>
        <p:spPr>
          <a:xfrm>
            <a:off x="8124656" y="1283437"/>
            <a:ext cx="3751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67% des CSC évalués maitrisent mois de 50% des compétences du métier.</a:t>
            </a:r>
          </a:p>
        </p:txBody>
      </p:sp>
    </p:spTree>
    <p:extLst>
      <p:ext uri="{BB962C8B-B14F-4D97-AF65-F5344CB8AC3E}">
        <p14:creationId xmlns:p14="http://schemas.microsoft.com/office/powerpoint/2010/main" val="302302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0328"/>
            <a:ext cx="11582400" cy="639762"/>
          </a:xfrm>
        </p:spPr>
        <p:txBody>
          <a:bodyPr>
            <a:noAutofit/>
          </a:bodyPr>
          <a:lstStyle/>
          <a:p>
            <a:r>
              <a:rPr lang="fr-FR" sz="3600" dirty="0"/>
              <a:t>Niveau moyen d'acquisition des compétences par les CSC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5D7A7AF5-5DF9-47E6-AF62-1D0B9624C31C}"/>
              </a:ext>
            </a:extLst>
          </p:cNvPr>
          <p:cNvGraphicFramePr>
            <a:graphicFrameLocks/>
          </p:cNvGraphicFramePr>
          <p:nvPr/>
        </p:nvGraphicFramePr>
        <p:xfrm>
          <a:off x="464024" y="720090"/>
          <a:ext cx="11582400" cy="6057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CSC - Top 8 Compétences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6489753-3DC7-79D5-67A0-E0F6144220A2}"/>
              </a:ext>
            </a:extLst>
          </p:cNvPr>
          <p:cNvGraphicFramePr>
            <a:graphicFrameLocks noGrp="1"/>
          </p:cNvGraphicFramePr>
          <p:nvPr/>
        </p:nvGraphicFramePr>
        <p:xfrm>
          <a:off x="504967" y="1267510"/>
          <a:ext cx="10972799" cy="5428886"/>
        </p:xfrm>
        <a:graphic>
          <a:graphicData uri="http://schemas.openxmlformats.org/drawingml/2006/table">
            <a:tbl>
              <a:tblPr/>
              <a:tblGrid>
                <a:gridCol w="5988124">
                  <a:extLst>
                    <a:ext uri="{9D8B030D-6E8A-4147-A177-3AD203B41FA5}">
                      <a16:colId xmlns:a16="http://schemas.microsoft.com/office/drawing/2014/main" val="1957168509"/>
                    </a:ext>
                  </a:extLst>
                </a:gridCol>
                <a:gridCol w="2575861">
                  <a:extLst>
                    <a:ext uri="{9D8B030D-6E8A-4147-A177-3AD203B41FA5}">
                      <a16:colId xmlns:a16="http://schemas.microsoft.com/office/drawing/2014/main" val="1821695502"/>
                    </a:ext>
                  </a:extLst>
                </a:gridCol>
                <a:gridCol w="2408814">
                  <a:extLst>
                    <a:ext uri="{9D8B030D-6E8A-4147-A177-3AD203B41FA5}">
                      <a16:colId xmlns:a16="http://schemas.microsoft.com/office/drawing/2014/main" val="1512267524"/>
                    </a:ext>
                  </a:extLst>
                </a:gridCol>
              </a:tblGrid>
              <a:tr h="61431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296647"/>
                  </a:ext>
                </a:extLst>
              </a:tr>
              <a:tr h="558618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Organisation des informations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017536"/>
                  </a:ext>
                </a:extLst>
              </a:tr>
              <a:tr h="31125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Courage managérial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655081"/>
                  </a:ext>
                </a:extLst>
              </a:tr>
              <a:tr h="558618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Statistiques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984235"/>
                  </a:ext>
                </a:extLst>
              </a:tr>
              <a:tr h="31125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Connaissance produit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227764"/>
                  </a:ext>
                </a:extLst>
              </a:tr>
              <a:tr h="31125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Présentation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471565"/>
                  </a:ext>
                </a:extLst>
              </a:tr>
              <a:tr h="83383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Partage des connaissances et compétences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680330"/>
                  </a:ext>
                </a:extLst>
              </a:tr>
              <a:tr h="558618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Respect et écoute des opinions des autres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925887"/>
                  </a:ext>
                </a:extLst>
              </a:tr>
              <a:tr h="31125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Méthode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4899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21154"/>
            <a:ext cx="10972800" cy="1143000"/>
          </a:xfrm>
        </p:spPr>
        <p:txBody>
          <a:bodyPr/>
          <a:lstStyle/>
          <a:p>
            <a:r>
              <a:rPr dirty="0"/>
              <a:t>CSC - Bottom 8 </a:t>
            </a:r>
            <a:r>
              <a:rPr dirty="0" err="1"/>
              <a:t>Compétences</a:t>
            </a:r>
            <a:endParaRPr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6A18D3D-3E4B-7690-3511-153FC734348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146412"/>
          <a:ext cx="11168418" cy="5432150"/>
        </p:xfrm>
        <a:graphic>
          <a:graphicData uri="http://schemas.openxmlformats.org/drawingml/2006/table">
            <a:tbl>
              <a:tblPr/>
              <a:tblGrid>
                <a:gridCol w="5026925">
                  <a:extLst>
                    <a:ext uri="{9D8B030D-6E8A-4147-A177-3AD203B41FA5}">
                      <a16:colId xmlns:a16="http://schemas.microsoft.com/office/drawing/2014/main" val="3098615018"/>
                    </a:ext>
                  </a:extLst>
                </a:gridCol>
                <a:gridCol w="3803917">
                  <a:extLst>
                    <a:ext uri="{9D8B030D-6E8A-4147-A177-3AD203B41FA5}">
                      <a16:colId xmlns:a16="http://schemas.microsoft.com/office/drawing/2014/main" val="3529027797"/>
                    </a:ext>
                  </a:extLst>
                </a:gridCol>
                <a:gridCol w="2337576">
                  <a:extLst>
                    <a:ext uri="{9D8B030D-6E8A-4147-A177-3AD203B41FA5}">
                      <a16:colId xmlns:a16="http://schemas.microsoft.com/office/drawing/2014/main" val="2481279790"/>
                    </a:ext>
                  </a:extLst>
                </a:gridCol>
              </a:tblGrid>
              <a:tr h="45582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Compétence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Taux d'acquisition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Note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42692"/>
                  </a:ext>
                </a:extLst>
              </a:tr>
              <a:tr h="455829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Capacité à influencer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92104"/>
                  </a:ext>
                </a:extLst>
              </a:tr>
              <a:tr h="455829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des priorités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41817"/>
                  </a:ext>
                </a:extLst>
              </a:tr>
              <a:tr h="643642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 inspirationnel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43171"/>
                  </a:ext>
                </a:extLst>
              </a:tr>
              <a:tr h="455829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Leadership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386670"/>
                  </a:ext>
                </a:extLst>
              </a:tr>
              <a:tr h="90497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Veille Concurrentielle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943351"/>
                  </a:ext>
                </a:extLst>
              </a:tr>
              <a:tr h="455829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Gestion du temps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337173"/>
                  </a:ext>
                </a:extLst>
              </a:tr>
              <a:tr h="9607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de Conduite du Changement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906024"/>
                  </a:ext>
                </a:extLst>
              </a:tr>
              <a:tr h="643642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Techniques d'Analyse du Marché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98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977</Words>
  <Application>Microsoft Office PowerPoint</Application>
  <PresentationFormat>Grand écran</PresentationFormat>
  <Paragraphs>488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Aptos Narrow</vt:lpstr>
      <vt:lpstr>Arial</vt:lpstr>
      <vt:lpstr>Calibri</vt:lpstr>
      <vt:lpstr>Calibri Light</vt:lpstr>
      <vt:lpstr>1_Thème Office</vt:lpstr>
      <vt:lpstr>Office Theme</vt:lpstr>
      <vt:lpstr>Les résultats des évaluations</vt:lpstr>
      <vt:lpstr>NIVEAU CDS</vt:lpstr>
      <vt:lpstr>Taux d'acquisition des compétences par les CDS</vt:lpstr>
      <vt:lpstr>Structure du niveau d'acquisition des compétences par les CDS</vt:lpstr>
      <vt:lpstr>Score moyen par compétence</vt:lpstr>
      <vt:lpstr>CDS - Top 8 Compétences</vt:lpstr>
      <vt:lpstr>CDS - Bottom 8 Compétences</vt:lpstr>
      <vt:lpstr>NIVEAU CDV</vt:lpstr>
      <vt:lpstr>Matrice des compétences CDV</vt:lpstr>
      <vt:lpstr>Taux d'acquisition des compétences par les CDV</vt:lpstr>
      <vt:lpstr>Structure du niveau d'acquisition des compétences par les CDV</vt:lpstr>
      <vt:lpstr>Niveau moyen d'acquisition des compétences</vt:lpstr>
      <vt:lpstr>CDV - Top 8 Compétences</vt:lpstr>
      <vt:lpstr>CDV - Bottom 8 Compétences</vt:lpstr>
      <vt:lpstr>NIVEAU CSC</vt:lpstr>
      <vt:lpstr>Taux d'acquisition des compétences par les CSC</vt:lpstr>
      <vt:lpstr>Structure du niveau d'acquisition des compétences par les CSC</vt:lpstr>
      <vt:lpstr>Niveau moyen d'acquisition des compétences par les CSC</vt:lpstr>
      <vt:lpstr>CSC - Top 8 Compétences</vt:lpstr>
      <vt:lpstr>CSC - Bottom 8 Compétences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 NZENANG</dc:creator>
  <cp:lastModifiedBy>Leonard NZENANG</cp:lastModifiedBy>
  <cp:revision>1</cp:revision>
  <dcterms:created xsi:type="dcterms:W3CDTF">2025-09-12T07:19:47Z</dcterms:created>
  <dcterms:modified xsi:type="dcterms:W3CDTF">2025-09-12T07:24:57Z</dcterms:modified>
</cp:coreProperties>
</file>